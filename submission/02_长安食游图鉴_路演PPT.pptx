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566928"/>
            <a:ext cx="5486400" cy="2743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200" b="1">
                <a:solidFill>
                  <a:srgbClr val="B52F35"/>
                </a:solidFill>
                <a:latin typeface="Arial"/>
              </a:rPr>
              <a:t>2026 西客松 · AI 软件赛道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8046720" cy="9601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4400" b="1">
                <a:solidFill>
                  <a:srgbClr val="F7F2E6"/>
                </a:solidFill>
                <a:latin typeface="Microsoft YaHei"/>
              </a:rPr>
              <a:t>长安食游图鉴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331720"/>
            <a:ext cx="6217920" cy="438912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000" b="0">
                <a:solidFill>
                  <a:srgbClr val="D7A855"/>
                </a:solidFill>
                <a:latin typeface="Microsoft YaHei"/>
              </a:rPr>
              <a:t>先看懂一味，再走进一街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54680"/>
            <a:ext cx="4754880" cy="10972"/>
          </a:xfrm>
          <a:prstGeom prst="rect">
            <a:avLst/>
          </a:prstGeom>
          <a:solidFill>
            <a:srgbClr val="D7A855"/>
          </a:solidFill>
          <a:ln w="10160">
            <a:solidFill>
              <a:srgbClr val="D7A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3401568"/>
            <a:ext cx="6858000" cy="3657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600" b="0">
                <a:solidFill>
                  <a:srgbClr val="BEB8A6"/>
                </a:solidFill>
                <a:latin typeface="Microsoft YaHei"/>
              </a:rPr>
              <a:t>西安地方美食文化图鉴 + 在地探索决策工具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64608"/>
            <a:ext cx="1143000" cy="347472"/>
          </a:xfrm>
          <a:prstGeom prst="roundRect">
            <a:avLst/>
          </a:prstGeom>
          <a:solidFill>
            <a:srgbClr val="111817"/>
          </a:solidFill>
          <a:ln w="10160">
            <a:solidFill>
              <a:srgbClr val="D7A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873752"/>
            <a:ext cx="1143000" cy="29260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D7A855"/>
                </a:solidFill>
                <a:latin typeface="Microsoft YaHei"/>
              </a:rPr>
              <a:t>菜品图鉴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93392" y="4864608"/>
            <a:ext cx="1143000" cy="347472"/>
          </a:xfrm>
          <a:prstGeom prst="roundRect">
            <a:avLst/>
          </a:prstGeom>
          <a:solidFill>
            <a:srgbClr val="111817"/>
          </a:solidFill>
          <a:ln w="10160">
            <a:solidFill>
              <a:srgbClr val="61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93392" y="4873752"/>
            <a:ext cx="1143000" cy="29260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61D0BE"/>
                </a:solidFill>
                <a:latin typeface="Microsoft YaHei"/>
              </a:rPr>
              <a:t>真实地点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55264" y="4864608"/>
            <a:ext cx="1143000" cy="347472"/>
          </a:xfrm>
          <a:prstGeom prst="roundRect">
            <a:avLst/>
          </a:prstGeom>
          <a:solidFill>
            <a:srgbClr val="111817"/>
          </a:solidFill>
          <a:ln w="10160">
            <a:solidFill>
              <a:srgbClr val="B52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55264" y="4873752"/>
            <a:ext cx="1143000" cy="29260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B52F35"/>
                </a:solidFill>
                <a:latin typeface="Microsoft YaHei"/>
              </a:rPr>
              <a:t>路线决策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080760"/>
            <a:ext cx="2743200" cy="2743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BEB8A6"/>
                </a:solidFill>
                <a:latin typeface="Microsoft YaHei"/>
              </a:rPr>
              <a:t>长安 · Hackers</a:t>
            </a:r>
          </a:p>
        </p:txBody>
      </p:sp>
      <p:pic>
        <p:nvPicPr>
          <p:cNvPr id="14" name="Picture 13" descr="xihack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5120640"/>
            <a:ext cx="1464183" cy="6400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201400" y="6217920"/>
            <a:ext cx="365760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BEB8A6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3840480" cy="2743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000" b="1">
                <a:solidFill>
                  <a:srgbClr val="B52F35"/>
                </a:solidFill>
                <a:latin typeface="Arial"/>
              </a:rPr>
              <a:t>为什么做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0241280" cy="603504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900" b="1">
                <a:solidFill>
                  <a:srgbClr val="F7F2E6"/>
                </a:solidFill>
                <a:latin typeface="Microsoft YaHei"/>
              </a:rPr>
              <a:t>游客知道想吃什么，却不知道去哪吃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307592"/>
            <a:ext cx="10241280" cy="347472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BEB8A6"/>
                </a:solidFill>
                <a:latin typeface="Microsoft YaHei"/>
              </a:rPr>
              <a:t>从分散信息到可执行决策，中间缺少一条可信的链路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764792"/>
            <a:ext cx="10927080" cy="10972"/>
          </a:xfrm>
          <a:prstGeom prst="rect">
            <a:avLst/>
          </a:prstGeom>
          <a:solidFill>
            <a:srgbClr val="D7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6473952"/>
            <a:ext cx="2057400" cy="20116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BEB8A6"/>
                </a:solidFill>
                <a:latin typeface="Arial"/>
              </a:rPr>
              <a:t>02  /  长安食游图鉴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331720"/>
            <a:ext cx="3273552" cy="2011680"/>
          </a:xfrm>
          <a:prstGeom prst="roundRect">
            <a:avLst/>
          </a:prstGeom>
          <a:solidFill>
            <a:srgbClr val="111817"/>
          </a:solidFill>
          <a:ln w="10160">
            <a:solidFill>
              <a:srgbClr val="B52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42032"/>
            <a:ext cx="457200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200" b="1">
                <a:solidFill>
                  <a:srgbClr val="B52F35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26080"/>
            <a:ext cx="2834640" cy="3657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400" b="1">
                <a:solidFill>
                  <a:srgbClr val="F7F2E6"/>
                </a:solidFill>
                <a:latin typeface="Microsoft YaHei"/>
              </a:rPr>
              <a:t>看不懂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456432"/>
            <a:ext cx="2834640" cy="5486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400" b="0">
                <a:solidFill>
                  <a:srgbClr val="BEB8A6"/>
                </a:solidFill>
                <a:latin typeface="Microsoft YaHei"/>
              </a:rPr>
              <a:t>只知道菜名，不知道历史、食材和吃法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2331720"/>
            <a:ext cx="3273552" cy="2011680"/>
          </a:xfrm>
          <a:prstGeom prst="roundRect">
            <a:avLst/>
          </a:prstGeom>
          <a:solidFill>
            <a:srgbClr val="111817"/>
          </a:solidFill>
          <a:ln w="10160">
            <a:solidFill>
              <a:srgbClr val="D7A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2542032"/>
            <a:ext cx="457200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200" b="1">
                <a:solidFill>
                  <a:srgbClr val="D7A855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926080"/>
            <a:ext cx="2834640" cy="3657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400" b="1">
                <a:solidFill>
                  <a:srgbClr val="F7F2E6"/>
                </a:solidFill>
                <a:latin typeface="Microsoft YaHei"/>
              </a:rPr>
              <a:t>找不到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3456432"/>
            <a:ext cx="2834640" cy="5486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400" b="0">
                <a:solidFill>
                  <a:srgbClr val="BEB8A6"/>
                </a:solidFill>
                <a:latin typeface="Microsoft YaHei"/>
              </a:rPr>
              <a:t>美食街、老店、巷子小店和街边摊难比较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1" y="2331720"/>
            <a:ext cx="3273552" cy="2011680"/>
          </a:xfrm>
          <a:prstGeom prst="roundRect">
            <a:avLst/>
          </a:prstGeom>
          <a:solidFill>
            <a:srgbClr val="111817"/>
          </a:solidFill>
          <a:ln w="10160">
            <a:solidFill>
              <a:srgbClr val="61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1" y="2542032"/>
            <a:ext cx="457200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200" b="1">
                <a:solidFill>
                  <a:srgbClr val="61D0BE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1" y="2926080"/>
            <a:ext cx="2834640" cy="3657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400" b="1">
                <a:solidFill>
                  <a:srgbClr val="F7F2E6"/>
                </a:solidFill>
                <a:latin typeface="Microsoft YaHei"/>
              </a:rPr>
              <a:t>串不起来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1" y="3456432"/>
            <a:ext cx="2834640" cy="5486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400" b="0">
                <a:solidFill>
                  <a:srgbClr val="BEB8A6"/>
                </a:solidFill>
                <a:latin typeface="Microsoft YaHei"/>
              </a:rPr>
              <a:t>时间、预算、距离和排队风险需要手动拼接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74920"/>
            <a:ext cx="10424160" cy="4572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900" b="1">
                <a:solidFill>
                  <a:srgbClr val="D7A855"/>
                </a:solidFill>
                <a:latin typeface="Microsoft YaHei"/>
              </a:rPr>
              <a:t>现有工具分别解决点评、地图或攻略，用户仍然需要自己完成最后的选择。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3840480" cy="2743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000" b="1">
                <a:solidFill>
                  <a:srgbClr val="B52F35"/>
                </a:solidFill>
                <a:latin typeface="Arial"/>
              </a:rPr>
              <a:t>怎么解决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0241280" cy="603504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900" b="1">
                <a:solidFill>
                  <a:srgbClr val="F7F2E6"/>
                </a:solidFill>
                <a:latin typeface="Microsoft YaHei"/>
              </a:rPr>
              <a:t>把地方文化变成一次可执行的寻味路径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764792"/>
            <a:ext cx="10927080" cy="10972"/>
          </a:xfrm>
          <a:prstGeom prst="rect">
            <a:avLst/>
          </a:prstGeom>
          <a:solidFill>
            <a:srgbClr val="D7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72600" y="6473952"/>
            <a:ext cx="2057400" cy="20116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BEB8A6"/>
                </a:solidFill>
                <a:latin typeface="Arial"/>
              </a:rPr>
              <a:t>03  /  长安食游图鉴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43200"/>
            <a:ext cx="1920240" cy="713232"/>
          </a:xfrm>
          <a:prstGeom prst="roundRect">
            <a:avLst/>
          </a:prstGeom>
          <a:solidFill>
            <a:srgbClr val="111817"/>
          </a:solidFill>
          <a:ln w="10160">
            <a:solidFill>
              <a:srgbClr val="B52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16352"/>
            <a:ext cx="1920240" cy="47548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F7F2E6"/>
                </a:solidFill>
                <a:latin typeface="Microsoft YaHei"/>
              </a:rPr>
              <a:t>理解一味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61488" y="2880360"/>
            <a:ext cx="411480" cy="41148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D7A855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743200"/>
            <a:ext cx="1920240" cy="713232"/>
          </a:xfrm>
          <a:prstGeom prst="roundRect">
            <a:avLst/>
          </a:prstGeom>
          <a:solidFill>
            <a:srgbClr val="111817"/>
          </a:solidFill>
          <a:ln w="10160">
            <a:solidFill>
              <a:srgbClr val="D7A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816352"/>
            <a:ext cx="1920240" cy="47548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F7F2E6"/>
                </a:solidFill>
                <a:latin typeface="Microsoft YaHei"/>
              </a:rPr>
              <a:t>找到一处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50408" y="2880360"/>
            <a:ext cx="411480" cy="41148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D7A855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2743200"/>
            <a:ext cx="1920240" cy="713232"/>
          </a:xfrm>
          <a:prstGeom prst="roundRect">
            <a:avLst/>
          </a:prstGeom>
          <a:solidFill>
            <a:srgbClr val="111817"/>
          </a:solidFill>
          <a:ln w="10160">
            <a:solidFill>
              <a:srgbClr val="61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79" y="2816352"/>
            <a:ext cx="1920240" cy="47548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F7F2E6"/>
                </a:solidFill>
                <a:latin typeface="Microsoft YaHei"/>
              </a:rPr>
              <a:t>选对吃法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7" y="2880360"/>
            <a:ext cx="411480" cy="41148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D7A855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3999" y="2743200"/>
            <a:ext cx="1920240" cy="713232"/>
          </a:xfrm>
          <a:prstGeom prst="roundRect">
            <a:avLst/>
          </a:prstGeom>
          <a:solidFill>
            <a:srgbClr val="111817"/>
          </a:solidFill>
          <a:ln w="10160">
            <a:solidFill>
              <a:srgbClr val="B52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3999" y="2816352"/>
            <a:ext cx="1920240" cy="47548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F7F2E6"/>
                </a:solidFill>
                <a:latin typeface="Microsoft YaHei"/>
              </a:rPr>
              <a:t>规划一程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251960"/>
            <a:ext cx="9692640" cy="41148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2100" b="1">
                <a:solidFill>
                  <a:srgbClr val="F7F2E6"/>
                </a:solidFill>
                <a:latin typeface="Microsoft YaHei"/>
              </a:rPr>
              <a:t>一道菜可以关联多个地点、多种消费方式和一条路线。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800600"/>
            <a:ext cx="9692640" cy="3657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BEB8A6"/>
                </a:solidFill>
                <a:latin typeface="Microsoft YaHei"/>
              </a:rPr>
              <a:t>用户可以只买一道菜，也可以在不同地点分散购买多种小吃。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3840480" cy="2743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000" b="1">
                <a:solidFill>
                  <a:srgbClr val="B52F35"/>
                </a:solidFill>
                <a:latin typeface="Arial"/>
              </a:rPr>
              <a:t>产品入口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0241280" cy="603504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900" b="1">
                <a:solidFill>
                  <a:srgbClr val="F7F2E6"/>
                </a:solidFill>
                <a:latin typeface="Microsoft YaHei"/>
              </a:rPr>
              <a:t>先看一味，再进入一街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307592"/>
            <a:ext cx="10241280" cy="347472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BEB8A6"/>
                </a:solidFill>
                <a:latin typeface="Microsoft YaHei"/>
              </a:rPr>
              <a:t>图片化菜品图鉴、历史资料、食材做法和来源集中在一个入口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764792"/>
            <a:ext cx="10927080" cy="10972"/>
          </a:xfrm>
          <a:prstGeom prst="rect">
            <a:avLst/>
          </a:prstGeom>
          <a:solidFill>
            <a:srgbClr val="D7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6473952"/>
            <a:ext cx="2057400" cy="20116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BEB8A6"/>
                </a:solidFill>
                <a:latin typeface="Arial"/>
              </a:rPr>
              <a:t>04  /  长安食游图鉴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4663440" cy="3429000"/>
          </a:xfrm>
          <a:prstGeom prst="roundRect">
            <a:avLst/>
          </a:prstGeom>
          <a:solidFill>
            <a:srgbClr val="111817"/>
          </a:solidFill>
          <a:ln w="10160">
            <a:solidFill>
              <a:srgbClr val="D7A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560320"/>
            <a:ext cx="2926080" cy="3657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200" b="1">
                <a:solidFill>
                  <a:srgbClr val="D7A855"/>
                </a:solidFill>
                <a:latin typeface="Microsoft YaHei"/>
              </a:rPr>
              <a:t>长安风味图鉴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246120"/>
            <a:ext cx="3977639" cy="3657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700" b="1">
                <a:solidFill>
                  <a:srgbClr val="F7F2E6"/>
                </a:solidFill>
                <a:latin typeface="Microsoft YaHei"/>
              </a:rPr>
              <a:t>肉夹馍   羊肉泡馍   凉皮   油泼面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730752"/>
            <a:ext cx="3977639" cy="3657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BEB8A6"/>
                </a:solidFill>
                <a:latin typeface="Microsoft YaHei"/>
              </a:rPr>
              <a:t>甑糕   葫芦鸡   臊子面   水盆羊肉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526280"/>
            <a:ext cx="3977639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61D0BE"/>
                </a:solidFill>
                <a:latin typeface="Microsoft YaHei"/>
              </a:rPr>
              <a:t>历史 · 食材 · 调味 · 做法 · 公开来源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" y="5010912"/>
            <a:ext cx="1508760" cy="347472"/>
          </a:xfrm>
          <a:prstGeom prst="roundRect">
            <a:avLst/>
          </a:prstGeom>
          <a:solidFill>
            <a:srgbClr val="111817"/>
          </a:solidFill>
          <a:ln w="10160">
            <a:solidFill>
              <a:srgbClr val="B52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5020056"/>
            <a:ext cx="1508760" cy="29260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B52F35"/>
                </a:solidFill>
                <a:latin typeface="Microsoft YaHei"/>
              </a:rPr>
              <a:t>14 道菜品资料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2240280"/>
            <a:ext cx="5394960" cy="3429000"/>
          </a:xfrm>
          <a:prstGeom prst="roundRect">
            <a:avLst/>
          </a:prstGeom>
          <a:solidFill>
            <a:srgbClr val="111817"/>
          </a:solidFill>
          <a:ln w="10160">
            <a:solidFill>
              <a:srgbClr val="B52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578608"/>
            <a:ext cx="1920240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000" b="1">
                <a:solidFill>
                  <a:srgbClr val="D7A855"/>
                </a:solidFill>
                <a:latin typeface="Microsoft YaHei"/>
              </a:rPr>
              <a:t>一味小史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090672"/>
            <a:ext cx="448056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BEB8A6"/>
                </a:solidFill>
                <a:latin typeface="Microsoft YaHei"/>
              </a:rPr>
              <a:t>· 菜品历史与百度百科公开资料链接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BEB8A6"/>
                </a:solidFill>
                <a:latin typeface="Microsoft YaHei"/>
              </a:rPr>
              <a:t>· 食材、调味和制作步骤结构化展示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BEB8A6"/>
                </a:solidFill>
                <a:latin typeface="Microsoft YaHei"/>
              </a:rPr>
              <a:t>· 图片优先复用更新版网页图片逻辑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BEB8A6"/>
                </a:solidFill>
                <a:latin typeface="Microsoft YaHei"/>
              </a:rPr>
              <a:t>· 缺图回退公开媒体库，不生成虚构事实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3840480" cy="2743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000" b="1">
                <a:solidFill>
                  <a:srgbClr val="B52F35"/>
                </a:solidFill>
                <a:latin typeface="Arial"/>
              </a:rPr>
              <a:t>从菜到店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0241280" cy="603504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900" b="1">
                <a:solidFill>
                  <a:srgbClr val="F7F2E6"/>
                </a:solidFill>
                <a:latin typeface="Microsoft YaHei"/>
              </a:rPr>
              <a:t>把“想吃”变成“知道去哪”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764792"/>
            <a:ext cx="10927080" cy="10972"/>
          </a:xfrm>
          <a:prstGeom prst="rect">
            <a:avLst/>
          </a:prstGeom>
          <a:solidFill>
            <a:srgbClr val="D7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72600" y="6473952"/>
            <a:ext cx="2057400" cy="20116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BEB8A6"/>
                </a:solidFill>
                <a:latin typeface="Arial"/>
              </a:rPr>
              <a:t>05  /  长安食游图鉴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4846320" cy="2834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0">
                <a:solidFill>
                  <a:srgbClr val="F7F2E6"/>
                </a:solidFill>
                <a:latin typeface="Microsoft YaHei"/>
              </a:rPr>
              <a:t>· 店铺名称、区域、地址和地图点位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F7F2E6"/>
                </a:solidFill>
                <a:latin typeface="Microsoft YaHei"/>
              </a:rPr>
              <a:t>· 人均价格、菜系、营业时间和服务方式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F7F2E6"/>
                </a:solidFill>
                <a:latin typeface="Microsoft YaHei"/>
              </a:rPr>
              <a:t>· 堂食、外带、交通指南等消费标签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F7F2E6"/>
                </a:solidFill>
                <a:latin typeface="Microsoft YaHei"/>
              </a:rPr>
              <a:t>· 菜单与菜品图鉴双向关联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F7F2E6"/>
                </a:solidFill>
                <a:latin typeface="Microsoft YaHei"/>
              </a:rPr>
              <a:t>· 开启定位后展示用户与门店距离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240280"/>
            <a:ext cx="4434840" cy="3474720"/>
          </a:xfrm>
          <a:prstGeom prst="roundRect">
            <a:avLst/>
          </a:prstGeom>
          <a:solidFill>
            <a:srgbClr val="111817"/>
          </a:solidFill>
          <a:ln w="10160">
            <a:solidFill>
              <a:srgbClr val="61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2578608"/>
            <a:ext cx="2011680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200" b="1">
                <a:solidFill>
                  <a:srgbClr val="61D0BE"/>
                </a:solidFill>
                <a:latin typeface="Microsoft YaHei"/>
              </a:rPr>
              <a:t>沿街拾味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3246120"/>
            <a:ext cx="3657600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F7F2E6"/>
                </a:solidFill>
                <a:latin typeface="Microsoft YaHei"/>
              </a:rPr>
              <a:t>秦缘肉夹馍（骡马市总店）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675887"/>
            <a:ext cx="3474720" cy="2743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BEB8A6"/>
                </a:solidFill>
                <a:latin typeface="Microsoft YaHei"/>
              </a:rPr>
              <a:t>碑林区 · 骡马市   人均 ¥17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4133087"/>
            <a:ext cx="3474720" cy="2743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D7A855"/>
                </a:solidFill>
                <a:latin typeface="Microsoft YaHei"/>
              </a:rPr>
              <a:t>堂食 / 外带 / 交通指南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4736592"/>
            <a:ext cx="3657600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BEB8A6"/>
                </a:solidFill>
                <a:latin typeface="Microsoft YaHei"/>
              </a:rPr>
              <a:t>定位后显示距离 · 资料来自游陕西截图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3840480" cy="2743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000" b="1">
                <a:solidFill>
                  <a:srgbClr val="B52F35"/>
                </a:solidFill>
                <a:latin typeface="Arial"/>
              </a:rPr>
              <a:t>路线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0241280" cy="603504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900" b="1">
                <a:solidFill>
                  <a:srgbClr val="F7F2E6"/>
                </a:solidFill>
                <a:latin typeface="Microsoft YaHei"/>
              </a:rPr>
              <a:t>一句话生成一条可走的美食路线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307592"/>
            <a:ext cx="10241280" cy="347472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BEB8A6"/>
                </a:solidFill>
                <a:latin typeface="Microsoft YaHei"/>
              </a:rPr>
              <a:t>Agent 理解条件，规则层负责可行性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764792"/>
            <a:ext cx="10927080" cy="10972"/>
          </a:xfrm>
          <a:prstGeom prst="rect">
            <a:avLst/>
          </a:prstGeom>
          <a:solidFill>
            <a:srgbClr val="D7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6473952"/>
            <a:ext cx="2057400" cy="20116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BEB8A6"/>
                </a:solidFill>
                <a:latin typeface="Arial"/>
              </a:rPr>
              <a:t>06  /  长安食游图鉴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221992"/>
            <a:ext cx="3931920" cy="3474720"/>
          </a:xfrm>
          <a:prstGeom prst="roundRect">
            <a:avLst/>
          </a:prstGeom>
          <a:solidFill>
            <a:srgbClr val="111817"/>
          </a:solidFill>
          <a:ln w="10160">
            <a:solidFill>
              <a:srgbClr val="D7A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88336"/>
            <a:ext cx="3337560" cy="4572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900" b="1">
                <a:solidFill>
                  <a:srgbClr val="F7F2E6"/>
                </a:solidFill>
                <a:latin typeface="Microsoft YaHei"/>
              </a:rPr>
              <a:t>钟楼附近 · 2 小时 · 3 种小吃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310128"/>
            <a:ext cx="3108960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400" b="0">
                <a:solidFill>
                  <a:srgbClr val="BEB8A6"/>
                </a:solidFill>
                <a:latin typeface="Microsoft YaHei"/>
              </a:rPr>
              <a:t>不想去连锁店，优先巷子和老店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4069080"/>
            <a:ext cx="1234440" cy="347472"/>
          </a:xfrm>
          <a:prstGeom prst="roundRect">
            <a:avLst/>
          </a:prstGeom>
          <a:solidFill>
            <a:srgbClr val="111817"/>
          </a:solidFill>
          <a:ln w="10160">
            <a:solidFill>
              <a:srgbClr val="B52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78224"/>
            <a:ext cx="1234440" cy="29260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B52F35"/>
                </a:solidFill>
                <a:latin typeface="Microsoft YaHei"/>
              </a:rPr>
              <a:t>落笔成行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846320"/>
            <a:ext cx="3246120" cy="347472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D7A855"/>
                </a:solidFill>
                <a:latin typeface="Microsoft YaHei"/>
              </a:rPr>
              <a:t>地点 · 时长 · 预算 · 口味 · 消费方式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2487168"/>
            <a:ext cx="1463040" cy="713232"/>
          </a:xfrm>
          <a:prstGeom prst="roundRect">
            <a:avLst/>
          </a:prstGeom>
          <a:solidFill>
            <a:srgbClr val="111817"/>
          </a:solidFill>
          <a:ln w="10160">
            <a:solidFill>
              <a:srgbClr val="B52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560320"/>
            <a:ext cx="1463040" cy="47548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F7F2E6"/>
                </a:solidFill>
                <a:latin typeface="Microsoft YaHei"/>
              </a:rPr>
              <a:t>解析条件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624328"/>
            <a:ext cx="402336" cy="41148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D7A855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487168"/>
            <a:ext cx="1463040" cy="713232"/>
          </a:xfrm>
          <a:prstGeom prst="roundRect">
            <a:avLst/>
          </a:prstGeom>
          <a:solidFill>
            <a:srgbClr val="111817"/>
          </a:solidFill>
          <a:ln w="10160">
            <a:solidFill>
              <a:srgbClr val="D7A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2560320"/>
            <a:ext cx="1463040" cy="47548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F7F2E6"/>
                </a:solidFill>
                <a:latin typeface="Microsoft YaHei"/>
              </a:rPr>
              <a:t>查菜与店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624328"/>
            <a:ext cx="402336" cy="41148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D7A855"/>
                </a:solidFill>
                <a:latin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2487168"/>
            <a:ext cx="1463040" cy="713232"/>
          </a:xfrm>
          <a:prstGeom prst="roundRect">
            <a:avLst/>
          </a:prstGeom>
          <a:solidFill>
            <a:srgbClr val="111817"/>
          </a:solidFill>
          <a:ln w="10160">
            <a:solidFill>
              <a:srgbClr val="61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2560320"/>
            <a:ext cx="1463040" cy="47548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F7F2E6"/>
                </a:solidFill>
                <a:latin typeface="Microsoft YaHei"/>
              </a:rPr>
              <a:t>算预算距离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8" y="3886200"/>
            <a:ext cx="5486400" cy="41148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7F2E6"/>
                </a:solidFill>
                <a:latin typeface="Microsoft YaHei"/>
              </a:rPr>
              <a:t>路线结果：节点顺序 · 预计时长 · 预算 · 风险 · Plan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4617720"/>
            <a:ext cx="5303520" cy="3657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300" b="0">
                <a:solidFill>
                  <a:srgbClr val="BEB8A6"/>
                </a:solidFill>
                <a:latin typeface="Microsoft YaHei"/>
              </a:rPr>
              <a:t>模型失败、地图失败或网络失败时，回退到本地资料。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3840480" cy="2743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000" b="1">
                <a:solidFill>
                  <a:srgbClr val="B52F35"/>
                </a:solidFill>
                <a:latin typeface="Arial"/>
              </a:rPr>
              <a:t>可信数据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0241280" cy="603504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900" b="1">
                <a:solidFill>
                  <a:srgbClr val="F7F2E6"/>
                </a:solidFill>
                <a:latin typeface="Microsoft YaHei"/>
              </a:rPr>
              <a:t>来源和时间标记，是产品的一部分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764792"/>
            <a:ext cx="10927080" cy="10972"/>
          </a:xfrm>
          <a:prstGeom prst="rect">
            <a:avLst/>
          </a:prstGeom>
          <a:solidFill>
            <a:srgbClr val="D7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72600" y="6473952"/>
            <a:ext cx="2057400" cy="20116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BEB8A6"/>
                </a:solidFill>
                <a:latin typeface="Arial"/>
              </a:rPr>
              <a:t>07  /  长安食游图鉴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76272"/>
            <a:ext cx="2743200" cy="457200"/>
          </a:xfrm>
          <a:prstGeom prst="roundRect">
            <a:avLst/>
          </a:prstGeom>
          <a:solidFill>
            <a:srgbClr val="111817"/>
          </a:solidFill>
          <a:ln w="10160">
            <a:solidFill>
              <a:srgbClr val="B52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221991"/>
            <a:ext cx="2377440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B52F35"/>
                </a:solidFill>
                <a:latin typeface="Microsoft YaHei"/>
              </a:rPr>
              <a:t>游陕西小程序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2221991"/>
            <a:ext cx="5029200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400" b="0">
                <a:solidFill>
                  <a:srgbClr val="BEB8A6"/>
                </a:solidFill>
                <a:latin typeface="Microsoft YaHei"/>
              </a:rPr>
              <a:t>菜品、店铺、榜单截图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43784"/>
            <a:ext cx="2743200" cy="457200"/>
          </a:xfrm>
          <a:prstGeom prst="roundRect">
            <a:avLst/>
          </a:prstGeom>
          <a:solidFill>
            <a:srgbClr val="111817"/>
          </a:solidFill>
          <a:ln w="10160">
            <a:solidFill>
              <a:srgbClr val="D7A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889503"/>
            <a:ext cx="2377440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D7A855"/>
                </a:solidFill>
                <a:latin typeface="Microsoft YaHei"/>
              </a:rPr>
              <a:t>百度百科词条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2889503"/>
            <a:ext cx="5029200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400" b="0">
                <a:solidFill>
                  <a:srgbClr val="BEB8A6"/>
                </a:solidFill>
                <a:latin typeface="Microsoft YaHei"/>
              </a:rPr>
              <a:t>历史与基本形制参考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11296"/>
            <a:ext cx="2743200" cy="457200"/>
          </a:xfrm>
          <a:prstGeom prst="roundRect">
            <a:avLst/>
          </a:prstGeom>
          <a:solidFill>
            <a:srgbClr val="111817"/>
          </a:solidFill>
          <a:ln w="10160">
            <a:solidFill>
              <a:srgbClr val="61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557015"/>
            <a:ext cx="2377440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61D0BE"/>
                </a:solidFill>
                <a:latin typeface="Microsoft YaHei"/>
              </a:rPr>
              <a:t>更新版网页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557015"/>
            <a:ext cx="5029200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400" b="0">
                <a:solidFill>
                  <a:srgbClr val="BEB8A6"/>
                </a:solidFill>
                <a:latin typeface="Microsoft YaHei"/>
              </a:rPr>
              <a:t>菜品图片提示与展示参考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78808"/>
            <a:ext cx="2743200" cy="457200"/>
          </a:xfrm>
          <a:prstGeom prst="roundRect">
            <a:avLst/>
          </a:prstGeom>
          <a:solidFill>
            <a:srgbClr val="111817"/>
          </a:solidFill>
          <a:ln w="10160">
            <a:solidFill>
              <a:srgbClr val="F7F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224528"/>
            <a:ext cx="2377440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F7F2E6"/>
                </a:solidFill>
                <a:latin typeface="Microsoft YaHei"/>
              </a:rPr>
              <a:t>Wikimedia Commons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4224528"/>
            <a:ext cx="5029200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400" b="0">
                <a:solidFill>
                  <a:srgbClr val="BEB8A6"/>
                </a:solidFill>
                <a:latin typeface="Microsoft YaHei"/>
              </a:rPr>
              <a:t>缺图时的公开媒体库候选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240280"/>
            <a:ext cx="2286000" cy="2606040"/>
          </a:xfrm>
          <a:prstGeom prst="roundRect">
            <a:avLst/>
          </a:prstGeom>
          <a:solidFill>
            <a:srgbClr val="111817"/>
          </a:solidFill>
          <a:ln w="10160">
            <a:solidFill>
              <a:srgbClr val="D7A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2596896"/>
            <a:ext cx="1645920" cy="29260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D7A855"/>
                </a:solidFill>
                <a:latin typeface="Microsoft YaHei"/>
              </a:rPr>
              <a:t>数据状态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200400"/>
            <a:ext cx="1463040" cy="12801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7F2E6"/>
                </a:solidFill>
                <a:latin typeface="Microsoft YaHei"/>
              </a:rPr>
              <a:t>已核验
待确认
过期 / 需更新
演示 seed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74920"/>
            <a:ext cx="9692640" cy="3657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900" b="1">
                <a:solidFill>
                  <a:srgbClr val="B52F35"/>
                </a:solidFill>
                <a:latin typeface="Microsoft YaHei"/>
              </a:rPr>
              <a:t>没有来源的信息不自动补全。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3840480" cy="2743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000" b="1">
                <a:solidFill>
                  <a:srgbClr val="B52F35"/>
                </a:solidFill>
                <a:latin typeface="Arial"/>
              </a:rPr>
              <a:t>技术实现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0241280" cy="603504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900" b="1">
                <a:solidFill>
                  <a:srgbClr val="F7F2E6"/>
                </a:solidFill>
                <a:latin typeface="Microsoft YaHei"/>
              </a:rPr>
              <a:t>AI 负责理解，程序负责校验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764792"/>
            <a:ext cx="10927080" cy="10972"/>
          </a:xfrm>
          <a:prstGeom prst="rect">
            <a:avLst/>
          </a:prstGeom>
          <a:solidFill>
            <a:srgbClr val="D7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72600" y="6473952"/>
            <a:ext cx="2057400" cy="20116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BEB8A6"/>
                </a:solidFill>
                <a:latin typeface="Arial"/>
              </a:rPr>
              <a:t>08  /  长安食游图鉴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331720"/>
            <a:ext cx="1828800" cy="713232"/>
          </a:xfrm>
          <a:prstGeom prst="roundRect">
            <a:avLst/>
          </a:prstGeom>
          <a:solidFill>
            <a:srgbClr val="111817"/>
          </a:solidFill>
          <a:ln w="10160">
            <a:solidFill>
              <a:srgbClr val="B52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04872"/>
            <a:ext cx="1828800" cy="47548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F7F2E6"/>
                </a:solidFill>
                <a:latin typeface="Microsoft YaHei"/>
              </a:rPr>
              <a:t>自然语言输入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16352" y="2468880"/>
            <a:ext cx="411480" cy="41148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D7A855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331720"/>
            <a:ext cx="1645920" cy="713232"/>
          </a:xfrm>
          <a:prstGeom prst="roundRect">
            <a:avLst/>
          </a:prstGeom>
          <a:solidFill>
            <a:srgbClr val="111817"/>
          </a:solidFill>
          <a:ln w="10160">
            <a:solidFill>
              <a:srgbClr val="D7A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404872"/>
            <a:ext cx="1645920" cy="47548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F7F2E6"/>
                </a:solidFill>
                <a:latin typeface="Microsoft YaHei"/>
              </a:rPr>
              <a:t>Agent 解析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65776" y="2468880"/>
            <a:ext cx="411480" cy="41148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D7A855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2331720"/>
            <a:ext cx="1737360" cy="713232"/>
          </a:xfrm>
          <a:prstGeom prst="roundRect">
            <a:avLst/>
          </a:prstGeom>
          <a:solidFill>
            <a:srgbClr val="111817"/>
          </a:solidFill>
          <a:ln w="10160">
            <a:solidFill>
              <a:srgbClr val="61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32120" y="2404872"/>
            <a:ext cx="1737360" cy="47548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F7F2E6"/>
                </a:solidFill>
                <a:latin typeface="Microsoft YaHei"/>
              </a:rPr>
              <a:t>结构化数据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468880"/>
            <a:ext cx="411480" cy="41148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D7A855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82127" y="2331720"/>
            <a:ext cx="1645920" cy="713232"/>
          </a:xfrm>
          <a:prstGeom prst="roundRect">
            <a:avLst/>
          </a:prstGeom>
          <a:solidFill>
            <a:srgbClr val="111817"/>
          </a:solidFill>
          <a:ln w="10160">
            <a:solidFill>
              <a:srgbClr val="D7A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2404872"/>
            <a:ext cx="1645920" cy="47548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F7F2E6"/>
                </a:solidFill>
                <a:latin typeface="Microsoft YaHei"/>
              </a:rPr>
              <a:t>规则校验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6064" y="2468880"/>
            <a:ext cx="411480" cy="41148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D7A855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04120" y="2331720"/>
            <a:ext cx="1417320" cy="713232"/>
          </a:xfrm>
          <a:prstGeom prst="roundRect">
            <a:avLst/>
          </a:prstGeom>
          <a:solidFill>
            <a:srgbClr val="111817"/>
          </a:solidFill>
          <a:ln w="10160">
            <a:solidFill>
              <a:srgbClr val="B52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04120" y="2404872"/>
            <a:ext cx="1417320" cy="47548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F7F2E6"/>
                </a:solidFill>
                <a:latin typeface="Microsoft YaHei"/>
              </a:rPr>
              <a:t>路线结果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840480"/>
            <a:ext cx="4754880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BEB8A6"/>
                </a:solidFill>
                <a:latin typeface="Microsoft YaHei"/>
              </a:rPr>
              <a:t>· React 18 + Vite：可运行前端原型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BEB8A6"/>
                </a:solidFill>
                <a:latin typeface="Microsoft YaHei"/>
              </a:rPr>
              <a:t>· 本地 seed + source registry：断网可演示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BEB8A6"/>
                </a:solidFill>
                <a:latin typeface="Microsoft YaHei"/>
              </a:rPr>
              <a:t>· routeApi：预算、距离和时间计算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BEB8A6"/>
                </a:solidFill>
                <a:latin typeface="Microsoft YaHei"/>
              </a:rPr>
              <a:t>· agentApi：自然语言解析和规则回退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BEB8A6"/>
                </a:solidFill>
                <a:latin typeface="Microsoft YaHei"/>
              </a:rPr>
              <a:t>· TianDiMap：地图可用时展示门店点位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840480"/>
            <a:ext cx="4480560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BEB8A6"/>
                </a:solidFill>
                <a:latin typeface="Microsoft YaHei"/>
              </a:rPr>
              <a:t>· 价格不由模型猜测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BEB8A6"/>
                </a:solidFill>
                <a:latin typeface="Microsoft YaHei"/>
              </a:rPr>
              <a:t>· 营业状态保留时间标记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BEB8A6"/>
                </a:solidFill>
                <a:latin typeface="Microsoft YaHei"/>
              </a:rPr>
              <a:t>· 网络失败有降级路径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BEB8A6"/>
                </a:solidFill>
                <a:latin typeface="Microsoft YaHei"/>
              </a:rPr>
              <a:t>· 第三方资源记录来源和许可证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3840480" cy="2743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000" b="1">
                <a:solidFill>
                  <a:srgbClr val="B52F35"/>
                </a:solidFill>
                <a:latin typeface="Arial"/>
              </a:rPr>
              <a:t>价值与创新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0241280" cy="603504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900" b="1">
                <a:solidFill>
                  <a:srgbClr val="F7F2E6"/>
                </a:solidFill>
                <a:latin typeface="Microsoft YaHei"/>
              </a:rPr>
              <a:t>把地方文化内容转化为真实消费决策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764792"/>
            <a:ext cx="10927080" cy="10972"/>
          </a:xfrm>
          <a:prstGeom prst="rect">
            <a:avLst/>
          </a:prstGeom>
          <a:solidFill>
            <a:srgbClr val="D7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72600" y="6473952"/>
            <a:ext cx="2057400" cy="20116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BEB8A6"/>
                </a:solidFill>
                <a:latin typeface="Arial"/>
              </a:rPr>
              <a:t>09  /  长安食游图鉴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40280"/>
            <a:ext cx="5074920" cy="3383280"/>
          </a:xfrm>
          <a:prstGeom prst="roundRect">
            <a:avLst/>
          </a:prstGeom>
          <a:solidFill>
            <a:srgbClr val="111817"/>
          </a:solidFill>
          <a:ln w="10160">
            <a:solidFill>
              <a:srgbClr val="B52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1280160" cy="29260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100" b="1">
                <a:solidFill>
                  <a:srgbClr val="B52F35"/>
                </a:solidFill>
                <a:latin typeface="Microsoft YaHei"/>
              </a:rPr>
              <a:t>差异化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54680"/>
            <a:ext cx="425196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BEB8A6"/>
                </a:solidFill>
                <a:latin typeface="Microsoft YaHei"/>
              </a:rPr>
              <a:t>· 菜品文化图鉴连接真实地点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BEB8A6"/>
                </a:solidFill>
                <a:latin typeface="Microsoft YaHei"/>
              </a:rPr>
              <a:t>· 一道菜支持多种购买方式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BEB8A6"/>
                </a:solidFill>
                <a:latin typeface="Microsoft YaHei"/>
              </a:rPr>
              <a:t>· 多地点路线与 Plan B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BEB8A6"/>
                </a:solidFill>
                <a:latin typeface="Microsoft YaHei"/>
              </a:rPr>
              <a:t>· 来源、时间和待确认状态可见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240280"/>
            <a:ext cx="4937760" cy="3383280"/>
          </a:xfrm>
          <a:prstGeom prst="roundRect">
            <a:avLst/>
          </a:prstGeom>
          <a:solidFill>
            <a:srgbClr val="111817"/>
          </a:solidFill>
          <a:ln w="10160">
            <a:solidFill>
              <a:srgbClr val="61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606040"/>
            <a:ext cx="1463040" cy="29260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100" b="1">
                <a:solidFill>
                  <a:srgbClr val="61D0BE"/>
                </a:solidFill>
                <a:latin typeface="Microsoft YaHei"/>
              </a:rPr>
              <a:t>潜在客户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154680"/>
            <a:ext cx="411480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BEB8A6"/>
                </a:solidFill>
                <a:latin typeface="Microsoft YaHei"/>
              </a:rPr>
              <a:t>· 酒店与民宿：本地接待方案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BEB8A6"/>
                </a:solidFill>
                <a:latin typeface="Microsoft YaHei"/>
              </a:rPr>
              <a:t>· 旅行社与地接：美食游路线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BEB8A6"/>
                </a:solidFill>
                <a:latin typeface="Microsoft YaHei"/>
              </a:rPr>
              <a:t>· 餐厅：特色菜展示与客流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BEB8A6"/>
                </a:solidFill>
                <a:latin typeface="Microsoft YaHei"/>
              </a:rPr>
              <a:t>· 美食街：文化传播与消费组织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3840480" cy="2743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000" b="1">
                <a:solidFill>
                  <a:srgbClr val="B52F35"/>
                </a:solidFill>
                <a:latin typeface="Arial"/>
              </a:rPr>
              <a:t>落地计划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0241280" cy="603504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900" b="1">
                <a:solidFill>
                  <a:srgbClr val="F7F2E6"/>
                </a:solidFill>
                <a:latin typeface="Microsoft YaHei"/>
              </a:rPr>
              <a:t>让每一味长安风味，都有来处也有去处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764792"/>
            <a:ext cx="10927080" cy="10972"/>
          </a:xfrm>
          <a:prstGeom prst="rect">
            <a:avLst/>
          </a:prstGeom>
          <a:solidFill>
            <a:srgbClr val="D7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72600" y="6473952"/>
            <a:ext cx="2057400" cy="20116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BEB8A6"/>
                </a:solidFill>
                <a:latin typeface="Arial"/>
              </a:rPr>
              <a:t>10  /  长安食游图鉴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514600"/>
            <a:ext cx="2468880" cy="713232"/>
          </a:xfrm>
          <a:prstGeom prst="roundRect">
            <a:avLst/>
          </a:prstGeom>
          <a:solidFill>
            <a:srgbClr val="111817"/>
          </a:solidFill>
          <a:ln w="10160">
            <a:solidFill>
              <a:srgbClr val="B52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87752"/>
            <a:ext cx="2468880" cy="47548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F7F2E6"/>
                </a:solidFill>
                <a:latin typeface="Microsoft YaHei"/>
              </a:rPr>
              <a:t>P0
真实来源 + 现场 Demo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2514600"/>
            <a:ext cx="2468880" cy="713232"/>
          </a:xfrm>
          <a:prstGeom prst="roundRect">
            <a:avLst/>
          </a:prstGeom>
          <a:solidFill>
            <a:srgbClr val="111817"/>
          </a:solidFill>
          <a:ln w="10160">
            <a:solidFill>
              <a:srgbClr val="D7A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2587752"/>
            <a:ext cx="2468880" cy="47548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F7F2E6"/>
                </a:solidFill>
                <a:latin typeface="Microsoft YaHei"/>
              </a:rPr>
              <a:t>P1
商家维护 + 多路线比较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2514600"/>
            <a:ext cx="2468880" cy="713232"/>
          </a:xfrm>
          <a:prstGeom prst="roundRect">
            <a:avLst/>
          </a:prstGeom>
          <a:solidFill>
            <a:srgbClr val="111817"/>
          </a:solidFill>
          <a:ln w="10160">
            <a:solidFill>
              <a:srgbClr val="61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2587752"/>
            <a:ext cx="2468880" cy="47548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F7F2E6"/>
                </a:solidFill>
                <a:latin typeface="Microsoft YaHei"/>
              </a:rPr>
              <a:t>P2
审核后台 + 用户投稿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60520"/>
            <a:ext cx="10149840" cy="41148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2200" b="1">
                <a:solidFill>
                  <a:srgbClr val="F7F2E6"/>
                </a:solidFill>
                <a:latin typeface="Microsoft YaHei"/>
              </a:rPr>
              <a:t>今天的 Demo 已经跑通：看菜 → 看店 → 定位 → 规划路线。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892040"/>
            <a:ext cx="10149840" cy="3657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700" b="0">
                <a:solidFill>
                  <a:srgbClr val="D7A855"/>
                </a:solidFill>
                <a:latin typeface="Microsoft YaHei"/>
              </a:rPr>
              <a:t>长安食游图鉴 · 先看懂一味，再走进一街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